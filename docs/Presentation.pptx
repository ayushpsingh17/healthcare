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2232E"/>
                </a:solidFill>
                <a:latin typeface="Georgia"/>
              </a:defRPr>
            </a:pPr>
            <a:r>
              <a:rPr sz="1500" b="0" i="0" u="none" strike="noStrike">
                <a:solidFill>
                  <a:srgbClr val="12232E"/>
                </a:solidFill>
                <a:latin typeface="Georgia"/>
              </a:rPr>
              <a:t>569 Total Samples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4B5A"/>
              </a:solidFill>
              <a:effectLst/>
            </c:spPr>
          </c:dPt>
          <c:dPt>
            <c:idx val="1"/>
            <c:bubble3D val="0"/>
            <c:spPr>
              <a:solidFill>
                <a:srgbClr val="B23A2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Benign</c:v>
                </c:pt>
                <c:pt idx="1">
                  <c:v>Malignant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357</c:v>
                </c:pt>
                <c:pt idx="1">
                  <c:v>212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6B7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2232E"/>
                </a:solidFill>
                <a:latin typeface="Georgia"/>
              </a:defRPr>
            </a:pPr>
            <a:r>
              <a:rPr sz="1600" b="0" i="0" u="none" strike="noStrike">
                <a:solidFill>
                  <a:srgbClr val="12232E"/>
                </a:solidFill>
                <a:latin typeface="Georgia"/>
              </a:rPr>
              <a:t>Test-Set ROC-AUC by Model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1B4B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32E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
Regression</c:v>
                  </c:pt>
                  <c:pt idx="1">
                    <c:v>SVM
(RBF)</c:v>
                  </c:pt>
                  <c:pt idx="2">
                    <c:v>Random
Forest</c:v>
                  </c:pt>
                  <c:pt idx="3">
                    <c:v>MLP
(Neural Net)</c:v>
                  </c:pt>
                  <c:pt idx="4">
                    <c:v>Gradient
Boosting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0.9954</c:v>
                </c:pt>
                <c:pt idx="1">
                  <c:v>0.995</c:v>
                </c:pt>
                <c:pt idx="2">
                  <c:v>0.9937</c:v>
                </c:pt>
                <c:pt idx="3">
                  <c:v>0.9921</c:v>
                </c:pt>
                <c:pt idx="4">
                  <c:v>0.9907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2232E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98"/>
        </c:scaling>
        <c:delete val="0"/>
        <c:axPos val="b"/>
        <c:majorGridlines>
          <c:spPr>
            <a:ln w="12700" cap="flat">
              <a:solidFill>
                <a:srgbClr val="DDE4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 (AUC = 0.995)</c:v>
                </c:pt>
              </c:strCache>
            </c:strRef>
          </c:tx>
          <c:spPr>
            <a:solidFill>
              <a:srgbClr val="1B4B5A"/>
            </a:solidFill>
            <a:ln w="25400" cap="flat">
              <a:solidFill>
                <a:srgbClr val="1B4B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B4B5A"/>
              </a:solidFill>
              <a:ln w="9525" cap="flat">
                <a:solidFill>
                  <a:srgbClr val="1B4B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0.000</c:v>
                  </c:pt>
                  <c:pt idx="1">
                    <c:v>0.000</c:v>
                  </c:pt>
                  <c:pt idx="2">
                    <c:v>0.000</c:v>
                  </c:pt>
                  <c:pt idx="3">
                    <c:v>0.024</c:v>
                  </c:pt>
                  <c:pt idx="4">
                    <c:v>0.024</c:v>
                  </c:pt>
                  <c:pt idx="5">
                    <c:v>1.000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0.0139</c:v>
                </c:pt>
                <c:pt idx="2">
                  <c:v>0.8056</c:v>
                </c:pt>
                <c:pt idx="3">
                  <c:v>0.8056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guess</c:v>
                </c:pt>
              </c:strCache>
            </c:strRef>
          </c:tx>
          <c:spPr>
            <a:solidFill>
              <a:srgbClr val="C7CFD2"/>
            </a:solidFill>
            <a:ln w="25400" cap="flat">
              <a:solidFill>
                <a:srgbClr val="C7CFD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7CFD2"/>
              </a:solidFill>
              <a:ln w="9525" cap="flat">
                <a:solidFill>
                  <a:srgbClr val="C7CFD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0.000</c:v>
                  </c:pt>
                  <c:pt idx="1">
                    <c:v>0.000</c:v>
                  </c:pt>
                  <c:pt idx="2">
                    <c:v>0.000</c:v>
                  </c:pt>
                  <c:pt idx="3">
                    <c:v>0.024</c:v>
                  </c:pt>
                  <c:pt idx="4">
                    <c:v>0.024</c:v>
                  </c:pt>
                  <c:pt idx="5">
                    <c:v>1.000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0.0238</c:v>
                </c:pt>
                <c:pt idx="4">
                  <c:v>0.0238</c:v>
                </c:pt>
                <c:pt idx="5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E4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6B7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232E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12232E"/>
                </a:solidFill>
                <a:latin typeface="Georgia"/>
              </a:rPr>
              <a:t>Top 5 Features Pushing Toward Malignant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Standardized coefficient magnitude</c:v>
                </c:pt>
              </c:strCache>
            </c:strRef>
          </c:tx>
          <c:spPr>
            <a:solidFill>
              <a:srgbClr val="B23A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2232E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Worst texture</c:v>
                  </c:pt>
                  <c:pt idx="1">
                    <c:v>Radius error</c:v>
                  </c:pt>
                  <c:pt idx="2">
                    <c:v>Worst concave pts</c:v>
                  </c:pt>
                  <c:pt idx="3">
                    <c:v>Worst area</c:v>
                  </c:pt>
                  <c:pt idx="4">
                    <c:v>Worst radius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1.255</c:v>
                </c:pt>
                <c:pt idx="1">
                  <c:v>1.083</c:v>
                </c:pt>
                <c:pt idx="2">
                  <c:v>0.954</c:v>
                </c:pt>
                <c:pt idx="3">
                  <c:v>0.948</c:v>
                </c:pt>
                <c:pt idx="4">
                  <c:v>0.948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2232E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DE4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B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FC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Project — Healthcare &amp; Digital Health Track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AI-Assisted Breast Cancer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Diagnosis Support System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malignant vs. benign classification from digitized FNA cell-nuclei measurements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709160"/>
            <a:ext cx="3931920" cy="502920"/>
          </a:xfrm>
          <a:prstGeom prst="roundRect">
            <a:avLst>
              <a:gd name="adj" fmla="val 5090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3E7C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709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Logistic Regression  ·  Test ROC-AUC: 0.995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6172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FNA review has three recurring problems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Diagnosis Support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5F7F8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08483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FC9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04672" y="2743200"/>
            <a:ext cx="3008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6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Turnaround Time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3383280"/>
            <a:ext cx="300837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case receives the same review priority, regardless of how clear-cut it is — slowing triage in high-volume labs.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5F7F8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208483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FC9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45152" y="2743200"/>
            <a:ext cx="3008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6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Inter-Observer Variability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45152" y="3383280"/>
            <a:ext cx="300837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reviewers can reach different conclusions on borderline cases, since the read is a subjective visual judgment.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182880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5F7F8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208483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FC9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485632" y="2743200"/>
            <a:ext cx="3008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6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Second Opinion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85632" y="3383280"/>
            <a:ext cx="300837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rarely have a fast, consistent, automated cross-check available for an initial read.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3492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underlying task — mapping ~30 quantitative cell measurements to a diagnosis — is a well-defined supervised classification problem, which is exactly what AI is suited to support.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existing treatments stop at a notebook metric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Diagnosis Support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212080" cy="3749040"/>
          </a:xfrm>
          <a:prstGeom prst="roundRect">
            <a:avLst>
              <a:gd name="adj" fmla="val 1951"/>
            </a:avLst>
          </a:prstGeom>
          <a:solidFill>
            <a:srgbClr val="F5F7F8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Approach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dataset in a notebook
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one model
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 accuracy score
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— no interface, no API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E4EDEF"/>
          </a:solidFill>
          <a:ln w="12700">
            <a:solidFill>
              <a:srgbClr val="C7DB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29400" y="246888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5 model families with evidence
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the winner behind a documented REST API
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usable clinical interface
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docs: report, API spec, architecture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57150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AI: the diagnosis is a pattern-match over structured, already-computed measurements with a confirmed ground truth — the exact structure supervised ML learns well, used here as a second opinion, not a replacement for clinical judgment.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4B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E7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868680" y="32918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Method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96112" y="42062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preprocessing, and how the model was chosen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Wisconsin Diagnostic Breast Cancer dataset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Diagnosis Support System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37360"/>
          <a:ext cx="39319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892040" y="182880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10 base measurements is reported 3 ways — giving 30 input features: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892040" y="2468880"/>
            <a:ext cx="6583680" cy="685800"/>
          </a:xfrm>
          <a:prstGeom prst="roundRect">
            <a:avLst>
              <a:gd name="adj" fmla="val 8000"/>
            </a:avLst>
          </a:prstGeom>
          <a:solidFill>
            <a:srgbClr val="F5F7F8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20640" y="255117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223760" y="255117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value across the image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892040" y="3337560"/>
            <a:ext cx="6583680" cy="685800"/>
          </a:xfrm>
          <a:prstGeom prst="roundRect">
            <a:avLst>
              <a:gd name="adj" fmla="val 8000"/>
            </a:avLst>
          </a:prstGeom>
          <a:solidFill>
            <a:srgbClr val="F5F7F8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20640" y="341985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Error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223760" y="341985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variability across the image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892040" y="4206240"/>
            <a:ext cx="6583680" cy="685800"/>
          </a:xfrm>
          <a:prstGeom prst="roundRect">
            <a:avLst>
              <a:gd name="adj" fmla="val 8000"/>
            </a:avLst>
          </a:prstGeom>
          <a:solidFill>
            <a:srgbClr val="F5F7F8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20640" y="428853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Worst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223760" y="428853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/ most severe value observed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892040" y="52578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B6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radius · texture · perimeter · area · smoothness · compactness · concavity · concave points · symmetry · fractal dimension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five-stage, evidence-based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Diagnosis Support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5F7F8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85292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33375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Split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37490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 train/test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96312" y="33375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F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15768" y="274320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5F7F8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52928" y="285292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852928" y="33375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852928" y="37490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on all 30 features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63440" y="33375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F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882896" y="274320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5F7F8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0056" y="285292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20056" y="33375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5 Models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20056" y="37490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LR, SVM, RF, GBM, MLP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30568" y="33375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F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050024" y="274320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E4EDEF"/>
          </a:solidFill>
          <a:ln w="19050">
            <a:solidFill>
              <a:srgbClr val="1B4B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87184" y="285292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87184" y="33375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Winner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187184" y="37490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ROC-AUC + recall check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997696" y="33375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F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217152" y="274320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5F7F8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54312" y="285292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354312" y="33375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354312" y="37490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frontend UI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4937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model families were trained under identical conditions — same split, same preprocessing, same seed — so the final choice rests on evidence, not assumption.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 and SVM tie for the top ROC-AUC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Diagnosis Support System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10881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 was chosen over the tied SVM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Diagnosis Support System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675120" cy="2377440"/>
        </p:xfrm>
        <a:graphic>
          <a:graphicData uri="http://schemas.openxmlformats.org/drawingml/2006/table">
            <a:tbl>
              <a:tblPr/>
              <a:tblGrid>
                <a:gridCol w="2743200"/>
                <a:gridCol w="1965960"/>
                <a:gridCol w="19659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Logistic Regression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SVM (RBF)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5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36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0.9954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3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0.9950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5-fold CV 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36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0.9957 ± 0.0048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3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0.9957 ± 0.0048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36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0.011s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3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0.019s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Interpretable coefficients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36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3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543800" y="1783080"/>
            <a:ext cx="4114800" cy="3977640"/>
          </a:xfrm>
          <a:prstGeom prst="roundRect">
            <a:avLst>
              <a:gd name="adj" fmla="val 1839"/>
            </a:avLst>
          </a:prstGeom>
          <a:solidFill>
            <a:srgbClr val="E4EDEF"/>
          </a:solidFill>
          <a:ln w="12700">
            <a:solidFill>
              <a:srgbClr val="C7DB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18120" y="1965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6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Logistic Regression won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818120" y="2514600"/>
            <a:ext cx="3703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tied for best ROC-AUC — the gap (0.9954 vs 0.9950) is within CV noise
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are directly inspectable — clinicians can see why a case was flagged
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~2x faster at inference — no support-vector lookup at predict time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4434840"/>
            <a:ext cx="6675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metric: ROC-AUC (threshold-independent, class-balanced), with malignant-class recall checked separately since a false negative is the costliest error.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B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E7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868680" y="32918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96112" y="42062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performance, errors, and interpretability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98.25% accuracy, 0.995 ROC-AUC on held-out data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Diagnosis Support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29000" cy="1188720"/>
          </a:xfrm>
          <a:prstGeom prst="roundRect">
            <a:avLst>
              <a:gd name="adj" fmla="val 5385"/>
            </a:avLst>
          </a:prstGeom>
          <a:solidFill>
            <a:srgbClr val="F5F7F8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6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98.25%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233672" y="1828800"/>
            <a:ext cx="3429000" cy="1188720"/>
          </a:xfrm>
          <a:prstGeom prst="roundRect">
            <a:avLst>
              <a:gd name="adj" fmla="val 5385"/>
            </a:avLst>
          </a:prstGeom>
          <a:solidFill>
            <a:srgbClr val="F5F7F8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62272" y="19659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62272" y="228600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6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98.61%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7918704" y="1828800"/>
            <a:ext cx="3429000" cy="1188720"/>
          </a:xfrm>
          <a:prstGeom prst="roundRect">
            <a:avLst>
              <a:gd name="adj" fmla="val 5385"/>
            </a:avLst>
          </a:prstGeom>
          <a:solidFill>
            <a:srgbClr val="F5F7F8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47304" y="19659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(OVERALL)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147304" y="228600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6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98.61%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3429000" cy="1188720"/>
          </a:xfrm>
          <a:prstGeom prst="roundRect">
            <a:avLst>
              <a:gd name="adj" fmla="val 5385"/>
            </a:avLst>
          </a:prstGeom>
          <a:solidFill>
            <a:srgbClr val="F5F7F8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3832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370332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6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0.9861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4233672" y="3246120"/>
            <a:ext cx="3429000" cy="1188720"/>
          </a:xfrm>
          <a:prstGeom prst="roundRect">
            <a:avLst>
              <a:gd name="adj" fmla="val 5385"/>
            </a:avLst>
          </a:prstGeom>
          <a:solidFill>
            <a:srgbClr val="F5F7F8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62272" y="33832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62272" y="370332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6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0.9954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7918704" y="3246120"/>
            <a:ext cx="3429000" cy="1188720"/>
          </a:xfrm>
          <a:prstGeom prst="roundRect">
            <a:avLst>
              <a:gd name="adj" fmla="val 5385"/>
            </a:avLst>
          </a:prstGeom>
          <a:solidFill>
            <a:srgbClr val="F5F7F8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47304" y="33832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ROC-AUC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147304" y="370332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6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0.9957 ± 0.0048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548640" y="4892040"/>
            <a:ext cx="10881360" cy="1051560"/>
          </a:xfrm>
          <a:prstGeom prst="roundRect">
            <a:avLst>
              <a:gd name="adj" fmla="val 6087"/>
            </a:avLst>
          </a:prstGeom>
          <a:solidFill>
            <a:srgbClr val="E4EDEF"/>
          </a:solidFill>
          <a:ln w="12700">
            <a:solidFill>
              <a:srgbClr val="C7DB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0292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 the malignant class specifically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49440" y="502920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B4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97.62%  (41 / 42 caught)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errors out of 114 test cases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Diagnosis Support System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37360" y="1783080"/>
          <a:ext cx="6035040" cy="329184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</a:tblGrid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Predicted: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Malignant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Predicted: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5A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Malignant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2E7D4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41</a:t>
                      </a:r>
                      <a:endParaRPr lang="en-US" sz="3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B23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3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B23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3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2E7D4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71</a:t>
                      </a:r>
                      <a:endParaRPr lang="en-US" sz="3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3492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malignant case misclassified as benign (a false negative)
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benign case misclassified as malignant (a false positive)
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error types are flagged — the model output is a probability, not just a label, so borderline cases surface for review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Near-perfect separation between classes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Diagnosis Support System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188720" y="1691640"/>
          <a:ext cx="77724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9189720" y="228600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E4EDEF"/>
          </a:solidFill>
          <a:ln w="12700">
            <a:solidFill>
              <a:srgbClr val="C7DB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72600" y="2423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372600" y="27432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6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0.995</a:t>
            </a:r>
            <a:endParaRPr lang="en-US" sz="3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drives a malignant prediction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Diagnosis Support System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37360"/>
          <a:ext cx="65836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52360" y="1737360"/>
            <a:ext cx="4206240" cy="4297680"/>
          </a:xfrm>
          <a:prstGeom prst="roundRect">
            <a:avLst>
              <a:gd name="adj" fmla="val 1739"/>
            </a:avLst>
          </a:prstGeom>
          <a:solidFill>
            <a:srgbClr val="F5F7F8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26680" y="1965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6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the model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26680" y="24231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final model is a Logistic Regression, every prediction can be traced back to which measurements moved it — unlike a black-box model.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26680" y="37033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encoding: 0 = malignant, 1 = benign, so a negative coefficient increases malignant probability. All 5 features above carry negative coefficients.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726680" y="51206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B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plausible: larger, more irregular cell nuclei are consistent with malignancy.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4B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E7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868680" y="32918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&amp; Demo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96112" y="42062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API, and the working application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three-tier, independently deployable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Diagnosis Support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463040" y="1828800"/>
            <a:ext cx="7772400" cy="1234440"/>
          </a:xfrm>
          <a:prstGeom prst="roundRect">
            <a:avLst>
              <a:gd name="adj" fmla="val 5926"/>
            </a:avLst>
          </a:prstGeom>
          <a:solidFill>
            <a:srgbClr val="F5F7F8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3736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6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Layer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228600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train_model.py loads WDBC, preprocesses, compares 5 models, persists the winner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37360" y="265176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4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best_model.joblib · scaler.joblib · model_metadata.json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74920" y="30175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F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463040" y="3383280"/>
            <a:ext cx="7772400" cy="1234440"/>
          </a:xfrm>
          <a:prstGeom prst="roundRect">
            <a:avLst>
              <a:gd name="adj" fmla="val 5926"/>
            </a:avLst>
          </a:prstGeom>
          <a:solidFill>
            <a:srgbClr val="E4EDEF"/>
          </a:solidFill>
          <a:ln w="19050">
            <a:solidFill>
              <a:srgbClr val="1B4B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6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/ API Layer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37360" y="384048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validates requests via Pydantic and serves predictions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37360" y="420624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4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/health · GET /model-info · POST /predict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74920" y="45720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F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463040" y="4937760"/>
            <a:ext cx="7772400" cy="1234440"/>
          </a:xfrm>
          <a:prstGeom prst="roundRect">
            <a:avLst>
              <a:gd name="adj" fmla="val 5926"/>
            </a:avLst>
          </a:prstGeom>
          <a:solidFill>
            <a:srgbClr val="F5F7F8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7360" y="5029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6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/ UI Layer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37360" y="539496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HTML/CSS/JS calls the API and renders results for the clinician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37360" y="576072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4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Assessment tab · Model Performance tab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463040" y="5989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can be retrained, redeployed, or replaced independently of the others.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DEMONSTRATION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against the live API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Diagnosis Support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51206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1031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Sample 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43000" y="24688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regular cell measurements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29718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D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BENIGN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1143000" y="3794760"/>
            <a:ext cx="4480560" cy="1280160"/>
          </a:xfrm>
          <a:prstGeom prst="roundRect">
            <a:avLst>
              <a:gd name="adj" fmla="val 4286"/>
            </a:avLst>
          </a:prstGeom>
          <a:solidFill>
            <a:srgbClr val="E7F3EA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391363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Malignant probability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25880" y="420624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0.04%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0" y="391363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83280" y="420624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51206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21031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Sample B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720840" y="24688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irregular cell measurements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20840" y="29718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2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MALIGNANT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6720840" y="3794760"/>
            <a:ext cx="4480560" cy="1280160"/>
          </a:xfrm>
          <a:prstGeom prst="roundRect">
            <a:avLst>
              <a:gd name="adj" fmla="val 4286"/>
            </a:avLst>
          </a:prstGeom>
          <a:solidFill>
            <a:srgbClr val="FBEAE8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391363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Malignant probability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903720" y="420624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23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~100%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61120" y="391363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961120" y="420624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23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cases were run against the live FastAPI /predict endpoint during development — these are real model outputs, not illustrative numbers.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JUSTIFICATION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major decision, justified with evidence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Diagnosis Support System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206240"/>
        </p:xfrm>
        <a:graphic>
          <a:graphicData uri="http://schemas.openxmlformats.org/drawingml/2006/table">
            <a:tbl>
              <a:tblPr/>
              <a:tblGrid>
                <a:gridCol w="1920240"/>
                <a:gridCol w="3931920"/>
                <a:gridCol w="5212080"/>
              </a:tblGrid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5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WDBC via scikit-learn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clinical data, no download/licensing risk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Preprocessing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StandardScaler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 differ by orders of magnitude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(of 5 compared)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Tied top ROC-AUC + interpretable + fastest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 requests, auto-generated API docs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Accuracy, Precision, Recall, F1, ROC-AUC, CV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alone misleads under class imbalance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 limitations, stated honestly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Diagnosis Support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5F7F8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01952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single-institution dataset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206240" y="1901952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569 samples; would need re-validation on a different population or scanner before real clinical use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53512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image-to-feature automation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206240" y="2953512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the 30 measurements are already computed; a future version could accept the raw image directly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5F7F8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005072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risk-level thresholds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206240" y="4005072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Low/Moderate/High buckets are a UX convenience, not clinically calibrated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98348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056632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auth, logging, or audit trail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206240" y="5056632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before any deployment beyond this academic demonstration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4B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Deliverables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E7C8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91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1636776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35000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E7C8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500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2295144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Report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00837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E7C8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0083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95351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(this deck)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366674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E7C8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6667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6118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Demonstration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432511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E7C8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251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27024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Documentation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040880" y="1691640"/>
            <a:ext cx="4297680" cy="3566160"/>
          </a:xfrm>
          <a:prstGeom prst="roundRect">
            <a:avLst>
              <a:gd name="adj" fmla="val 256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E7C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C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0" y="23317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98.25%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731520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· 0.995 ROC-AUC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0" y="36576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97.62% recall on malignant cases — a served, documented, interpretable clinical decision-support tool.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5760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2026-07-25T08:05:38Z</dcterms:created>
  <dcterms:modified xsi:type="dcterms:W3CDTF">2026-07-25T08:05:38Z</dcterms:modified>
</cp:coreProperties>
</file>